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Revenue by Product (₹)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D4CBE"/>
            </a:solidFill>
            <a:ln>
              <a:solidFill>
                <a:srgbClr val="5D4CBE"/>
              </a:solidFill>
            </a:ln>
          </c:spPr>
          <c:cat>
            <c:strRef>
              <c:f>Sheet1!$A$2:$A$7</c:f>
              <c:strCache>
                <c:ptCount val="6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Rice</c:v>
                </c:pt>
                <c:pt idx="4">
                  <c:v>Chair</c:v>
                </c:pt>
                <c:pt idx="5">
                  <c:v>Shoes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25443008.51</c:v>
                </c:pt>
                <c:pt idx="1">
                  <c:v>25335573.19</c:v>
                </c:pt>
                <c:pt idx="2">
                  <c:v>25031689.4</c:v>
                </c:pt>
                <c:pt idx="3">
                  <c:v>22231711.28</c:v>
                </c:pt>
                <c:pt idx="4">
                  <c:v>21521561.48</c:v>
                </c:pt>
                <c:pt idx="5">
                  <c:v>19835895.79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Revenue by Category (₹)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9A499"/>
            </a:solidFill>
            <a:ln>
              <a:solidFill>
                <a:srgbClr val="19A499"/>
              </a:solidFill>
            </a:ln>
          </c:spPr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</c:v>
                </c:pt>
                <c:pt idx="1">
                  <c:v>25031689.4</c:v>
                </c:pt>
                <c:pt idx="2">
                  <c:v>22231711.28</c:v>
                </c:pt>
                <c:pt idx="3">
                  <c:v>21521561.48</c:v>
                </c:pt>
                <c:pt idx="4">
                  <c:v>19835895.79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Revenue by City (₹)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F5B5B"/>
            </a:solidFill>
            <a:ln>
              <a:solidFill>
                <a:srgbClr val="EF5B5B"/>
              </a:solidFill>
            </a:ln>
          </c:spPr>
          <c:cat>
            <c:strRef>
              <c:f>Sheet1!$A$2:$A$10</c:f>
              <c:strCache>
                <c:ptCount val="9"/>
                <c:pt idx="0">
                  <c:v>Patna</c:v>
                </c:pt>
                <c:pt idx="1">
                  <c:v>Kolkata</c:v>
                </c:pt>
                <c:pt idx="2">
                  <c:v>Bengaluru</c:v>
                </c:pt>
                <c:pt idx="3">
                  <c:v>Mumbai</c:v>
                </c:pt>
                <c:pt idx="4">
                  <c:v>Hyderabad</c:v>
                </c:pt>
                <c:pt idx="5">
                  <c:v>Delhi</c:v>
                </c:pt>
                <c:pt idx="6">
                  <c:v>Pune</c:v>
                </c:pt>
                <c:pt idx="7">
                  <c:v>Gaya</c:v>
                </c:pt>
                <c:pt idx="8">
                  <c:v>Unknown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19285966.89</c:v>
                </c:pt>
                <c:pt idx="1">
                  <c:v>18884349.57</c:v>
                </c:pt>
                <c:pt idx="2">
                  <c:v>18773574.32</c:v>
                </c:pt>
                <c:pt idx="3">
                  <c:v>18757050.17</c:v>
                </c:pt>
                <c:pt idx="4">
                  <c:v>17166766.87</c:v>
                </c:pt>
                <c:pt idx="5">
                  <c:v>16097079.0</c:v>
                </c:pt>
                <c:pt idx="6">
                  <c:v>14513175.9</c:v>
                </c:pt>
                <c:pt idx="7">
                  <c:v>14380859.39</c:v>
                </c:pt>
                <c:pt idx="8">
                  <c:v>1540617.54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40080"/>
            <a:ext cx="146304" cy="91440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40080"/>
            <a:ext cx="146304" cy="658368"/>
          </a:xfrm>
          <a:prstGeom prst="rect">
            <a:avLst/>
          </a:prstGeom>
          <a:solidFill>
            <a:srgbClr val="19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640080"/>
            <a:ext cx="146304" cy="411480"/>
          </a:xfrm>
          <a:prstGeom prst="rect">
            <a:avLst/>
          </a:prstGeom>
          <a:solidFill>
            <a:srgbClr val="5D4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DATA ANALYTICS
INTERNSHIP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CACCE6"/>
                </a:solidFill>
                <a:latin typeface="Aptos"/>
              </a:rPr>
              <a:t>ApexPlanet  |  Tasks 1–5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From raw sales data to business insights, statistical validation, and a portfolio-ready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CACCE6"/>
                </a:solidFill>
                <a:latin typeface="Aptos"/>
              </a:rPr>
              <a:t>Prepared by: [Your Name]  •  [College / Department]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E6E9F5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6E9F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End-to-end workflow using a sales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DATASET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01952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5D4CBE"/>
                </a:solidFill>
                <a:latin typeface="Aptos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04288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After Task 1 profiling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563624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ORIGINAL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1901952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9A499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304288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Sales and customer 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563624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DISTINCT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901952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EF5B5B"/>
                </a:solidFill>
                <a:latin typeface="Aptos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304288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After Order ID correction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41732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1563624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UNIQUE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1901952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5D4CBE"/>
                </a:solidFill>
                <a:latin typeface="Aptos"/>
              </a:rPr>
              <a:t>947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304288"/>
            <a:ext cx="1728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Distinct Customer_ID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563624"/>
            <a:ext cx="1911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DATE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901952"/>
            <a:ext cx="19110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9A499"/>
                </a:solidFill>
                <a:latin typeface="Aptos"/>
              </a:rPr>
              <a:t>2025–2026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304288"/>
            <a:ext cx="1911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Jan 1, 2025–Jan 1,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24612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Business objective: understand sales performance and turn the findings into useful business recommendations.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Dataset fields include order date, customer, age, gender, city, product, category, quantity, unit price, and total sales.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Workflow: data quality → EDA and SQL → segmentation and dashboarding → statistical validation → portfolio presentation.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Task 1 — 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Establishing a reliable, analysis-ready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63624"/>
            <a:ext cx="2093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ROWS PROFILED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20939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5D4CBE"/>
                </a:solidFill>
                <a:latin typeface="Aptos"/>
              </a:rPr>
              <a:t>1,000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1563624"/>
            <a:ext cx="2093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MISSING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901952"/>
            <a:ext cx="20939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EF5B5B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1563624"/>
            <a:ext cx="2093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MISSING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901952"/>
            <a:ext cx="20939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9A499"/>
                </a:solidFill>
                <a:latin typeface="Aptos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41732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1563624"/>
            <a:ext cx="2093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FULLY DUPLICATE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1901952"/>
            <a:ext cx="20939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5D4CBE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Profiled missing values, data types, duplicate records, numeric ranges, and sales consistency.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Detected a repeated Order_ID (ORD100050) and corrected eight corrupt repeats with unique sequential IDs.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Prepared cleaned CSV/Excel files, a data dictionary, a data-quality report, and a dataset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Task 2 — Exploratory Data Analysis &amp;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Quantifying the overall business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TOTAL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01952"/>
            <a:ext cx="18196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5D4CBE"/>
                </a:solidFill>
                <a:latin typeface="Aptos"/>
              </a:rPr>
              <a:t>₹13.94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₹139,399,439.65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56362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TOTAL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901952"/>
            <a:ext cx="18196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9A499"/>
                </a:solidFill>
                <a:latin typeface="Aptos"/>
              </a:rP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395728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Distinct Order_ID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1" y="156362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UNIQUE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1" y="1901952"/>
            <a:ext cx="18196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EF5B5B"/>
                </a:solidFill>
                <a:latin typeface="Aptos"/>
              </a:rPr>
              <a:t>947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1" y="2395728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Distinct Customer_ID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4173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56362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QUANTITY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901952"/>
            <a:ext cx="18196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5D4CBE"/>
                </a:solidFill>
                <a:latin typeface="Aptos"/>
              </a:rPr>
              <a:t>5,435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395728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Total units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417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1563624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AVG. ORDER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1901952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9A499"/>
                </a:solidFill>
                <a:latin typeface="Aptos"/>
              </a:rPr>
              <a:t>₹1.39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95728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₹139,399.44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375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Used Pandas for descriptive statistics, KPI analysis, and product/category/city-wise comparisons.</a:t>
            </a:r>
          </a:p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Prepared SQL business questions: top products, city revenue, monthly trend, category quantity, category AOV, age-group sales, and top customers.</a:t>
            </a:r>
          </a:p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Examined correlations: Unit Price vs Total Sales ≈ 0.686; Quantity vs Total Sales ≈ 0.647; Age vs Total Sales ≈ 0.001.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Task 2 — Revenue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Product and category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7160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371600"/>
          <a:ext cx="53949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2531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86F82"/>
                </a:solidFill>
                <a:latin typeface="Aptos"/>
              </a:rPr>
              <a:t>Electronics leads category revenue; Laptop is the highest-revenue individual product in the recorded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Task 2 — City-wise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Comparing sales across recorded locations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34440"/>
          <a:ext cx="6766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828800"/>
            <a:ext cx="374903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Patna recorded the highest city revenue: ₹19.29 million.</a:t>
            </a:r>
          </a:p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Kolkata, Bengaluru, and Mumbai followed closely.</a:t>
            </a:r>
          </a:p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Unknown city records should be interpreted as missing location information, not as a real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Task 3 — Deep-Dive Analysis &amp; Dashboarding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Turning descriptive results into an interactive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Defined core KPIs: total sales, orders, unique customers, quantity sold, and average order value.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Segmented revenue by age group, city, category, product, and customer.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Analyzed monthly sales trends and correlations between numeric variables.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Designed an interactive Plotly dashboard with filters for city, category, and age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417320"/>
            <a:ext cx="48006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6459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5D4CBE"/>
                </a:solidFill>
                <a:latin typeface="Aptos"/>
              </a:rPr>
              <a:t>INTERACTIVE DASHBOARD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14884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86F82"/>
                </a:solidFill>
                <a:latin typeface="Aptos"/>
              </a:rPr>
              <a:t>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093976"/>
            <a:ext cx="2286000" cy="384048"/>
          </a:xfrm>
          <a:prstGeom prst="roundRect">
            <a:avLst/>
          </a:prstGeom>
          <a:solidFill>
            <a:srgbClr val="F4F6FB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14884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9A499"/>
                </a:solidFill>
                <a:latin typeface="Aptos"/>
              </a:rPr>
              <a:t>All  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7889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86F82"/>
                </a:solidFill>
                <a:latin typeface="Aptos"/>
              </a:rPr>
              <a:t>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34056"/>
            <a:ext cx="2286000" cy="384048"/>
          </a:xfrm>
          <a:prstGeom prst="roundRect">
            <a:avLst/>
          </a:prstGeom>
          <a:solidFill>
            <a:srgbClr val="F4F6FB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7889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F5B5B"/>
                </a:solidFill>
                <a:latin typeface="Aptos"/>
              </a:rPr>
              <a:t>All  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42900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86F82"/>
                </a:solidFill>
                <a:latin typeface="Aptos"/>
              </a:rPr>
              <a:t>Age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374136"/>
            <a:ext cx="2286000" cy="384048"/>
          </a:xfrm>
          <a:prstGeom prst="roundRect">
            <a:avLst/>
          </a:prstGeom>
          <a:solidFill>
            <a:srgbClr val="F4F6FB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42900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5D4CBE"/>
                </a:solidFill>
                <a:latin typeface="Aptos"/>
              </a:rPr>
              <a:t>All  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2519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41736"/>
                </a:solidFill>
                <a:latin typeface="Aptos"/>
              </a:rPr>
              <a:t>Sales by category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663440"/>
            <a:ext cx="2377440" cy="118872"/>
          </a:xfrm>
          <a:prstGeom prst="rect">
            <a:avLst/>
          </a:prstGeom>
          <a:solidFill>
            <a:srgbClr val="5D4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4864607"/>
            <a:ext cx="1417320" cy="118872"/>
          </a:xfrm>
          <a:prstGeom prst="rect">
            <a:avLst/>
          </a:prstGeom>
          <a:solidFill>
            <a:srgbClr val="19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5065776"/>
            <a:ext cx="1097280" cy="118872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5266944"/>
            <a:ext cx="868680" cy="118872"/>
          </a:xfrm>
          <a:prstGeom prst="rect">
            <a:avLst/>
          </a:prstGeom>
          <a:solidFill>
            <a:srgbClr val="A0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539496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Illustrative layout; use actual notebook charts in final submission.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Task 4 — Data Storytelling &amp;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Statistical methods applied to validate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6362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TEST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30540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5D4CBE"/>
                </a:solidFill>
                <a:latin typeface="Aptos"/>
              </a:rPr>
              <a:t>Welch's t-test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Mean order sales: Male vs Female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TEST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540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9A499"/>
                </a:solidFill>
                <a:latin typeface="Aptos"/>
              </a:rPr>
              <a:t>Chi-square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Gender vs product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6362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86F82"/>
                </a:solidFill>
                <a:latin typeface="Aptos"/>
              </a:rPr>
              <a:t>SIGNIFICANCE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01952"/>
            <a:ext cx="30540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EF5B5B"/>
                </a:solidFill>
                <a:latin typeface="Aptos"/>
              </a:rPr>
              <a:t>α = 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395728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86F82"/>
                </a:solidFill>
                <a:latin typeface="Aptos"/>
              </a:rPr>
              <a:t>Interpret p-values carefully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Welch's t-test compares mean order-level sales between the recorded Male and Female groups.</a:t>
            </a:r>
          </a:p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The chi-square test checks whether recorded gender and product category are associated using transaction counts.</a:t>
            </a:r>
          </a:p>
          <a:p>
            <a:pPr>
              <a:spcAft>
                <a:spcPts val="1000"/>
              </a:spcAft>
              <a:defRPr sz="1600">
                <a:solidFill>
                  <a:srgbClr val="262A3E"/>
                </a:solidFill>
                <a:latin typeface="Aptos"/>
              </a:defRPr>
            </a:pPr>
            <a:r>
              <a:t>Report the actual p-values, confidence interval, and decision from the executed notebook; do not infer results before running the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F5B5B"/>
                </a:solidFill>
                <a:latin typeface="Aptos"/>
              </a:rPr>
              <a:t>Important: these are observational sales records. Statistical association does not establish causation.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Translate patterns into practical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Product strategy: investigate the drivers of Laptop and Electronics revenue—price, quantity, and repeat purchasing.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Regional strategy: compare order count and average order value in leading and lower-revenue cities before reallocating resources.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Inventory and campaigns: use monthly revenue patterns to guide planning, while avoiding claims of seasonality from a short time window.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Customer strategy: examine customer-level revenue and order frequency to identify high-value segments.</a:t>
            </a:r>
          </a:p>
          <a:p>
            <a:pPr>
              <a:spcAft>
                <a:spcPts val="1000"/>
              </a:spcAft>
              <a:defRPr sz="1700">
                <a:solidFill>
                  <a:srgbClr val="262A3E"/>
                </a:solidFill>
                <a:latin typeface="Aptos"/>
              </a:defRPr>
            </a:pPr>
            <a:r>
              <a:t>Measurement: validate hypotheses with larger samples, more time periods, or controlled experiments when causal conclusions are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Tools and techniques used across the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1790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5D4CBE"/>
                </a:solidFill>
                <a:latin typeface="Aptos"/>
              </a:rPr>
              <a:t>Python &amp;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A3E"/>
                </a:solidFill>
                <a:latin typeface="Aptos"/>
              </a:rPr>
              <a:t>Data cleaning, transformations,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1790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5D4CBE"/>
                </a:solidFill>
                <a:latin typeface="Aptos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A3E"/>
                </a:solidFill>
                <a:latin typeface="Aptos"/>
              </a:rPr>
              <a:t>Business questions and grouped summaries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3522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9A499"/>
                </a:solidFill>
                <a:latin typeface="Aptos"/>
              </a:rPr>
              <a:t>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39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A3E"/>
                </a:solidFill>
                <a:latin typeface="Aptos"/>
              </a:rPr>
              <a:t>Matplotlib, Seaborn, Plotly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8892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3522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9A499"/>
                </a:solidFill>
                <a:latin typeface="Aptos"/>
              </a:rPr>
              <a:t>Statistical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39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A3E"/>
                </a:solidFill>
                <a:latin typeface="Aptos"/>
              </a:rPr>
              <a:t>Welch t-test, chi-square, p-values, confidence intervals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EF5B5B"/>
                </a:solidFill>
                <a:latin typeface="Aptos"/>
              </a:rPr>
              <a:t>Business thinking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59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A3E"/>
                </a:solidFill>
                <a:latin typeface="Aptos"/>
              </a:rPr>
              <a:t>KPIs, segmentation,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0624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5254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EF5B5B"/>
                </a:solidFill>
                <a:latin typeface="Aptos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59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A3E"/>
                </a:solidFill>
                <a:latin typeface="Aptos"/>
              </a:rPr>
              <a:t>Storytelling, presentation, GitHub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41736"/>
                </a:solidFill>
                <a:latin typeface="Aptos"/>
              </a:rPr>
              <a:t>Final Portfolio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86F82"/>
                </a:solidFill>
                <a:latin typeface="Aptos"/>
              </a:rPr>
              <a:t>Suggested master GitHub 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>
                <a:solidFill>
                  <a:srgbClr val="141736"/>
                </a:solidFill>
                <a:latin typeface="Consolas"/>
              </a:rPr>
              <a:t>Data-Analytics-Internship-Portfolio/
├── README.md
├── Final_Presentation.pptx
├── Task-1-Data-Cleaning/
│   ├── data_cleaning.ipynb
│   └── cleaned_sales_dataset.csv
├── Task-2-EDA-SQL/
│   ├── eda.ipynb
│   └── SQL_queries.sql
├── Task-3-Dashboarding/
│   ├── deep_dive_analysis.ipynb
│   └── visualizations/
├── Task-4-Statistical-Validation/
│   ├── statistical_analysis.ipynb
│   └── visualizations/
└── images/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F5B5B"/>
                </a:solidFill>
                <a:latin typeface="Aptos"/>
              </a:rPr>
              <a:t>Before submission: add real repository URLs, check all notebook outputs, and include exported charts/results.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686F82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86F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E6E9F5"/>
                </a:solidFill>
                <a:latin typeface="Aptos"/>
              </a:rPr>
              <a:t>A complete workflow from raw data to business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Prepared a cleaned and validated sales dataset.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Explored revenue, customer, product, category, city, and monthly patterns.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Built a dashboarding workflow and statistical tests to investigate patterns.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Converted the analysis into recommendations and a portfolio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CACCE6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GitHub Portfolio: [Insert master repository link]  |  LinkedIn: [Insert profile link]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E6E9F5"/>
                </a:solidFill>
                <a:latin typeface="Aptos"/>
              </a:rPr>
              <a:t>APEXPLANET DATA ANALYTICS INTERNSHIP  |  FINAL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6E9F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